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400675" y="0"/>
            <a:ext cx="85725" cy="514350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71500"/>
            <a:ext cx="1571625" cy="110013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1500" y="1748433"/>
            <a:ext cx="4914900" cy="250031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3"/>
          <p:cNvSpPr/>
          <p:nvPr/>
        </p:nvSpPr>
        <p:spPr>
          <a:xfrm>
            <a:off x="571500" y="1748433"/>
            <a:ext cx="4914900" cy="250031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SPRINT 2 COMPLETA</a:t>
            </a:r>
            <a:endParaRPr lang="en-US" sz="683" dirty="0"/>
          </a:p>
        </p:txBody>
      </p:sp>
      <p:sp>
        <p:nvSpPr>
          <p:cNvPr id="8" name="Text 4"/>
          <p:cNvSpPr/>
          <p:nvPr/>
        </p:nvSpPr>
        <p:spPr>
          <a:xfrm>
            <a:off x="571500" y="2241352"/>
            <a:ext cx="4914900" cy="1068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512" b="1" spc="-2" kern="0" dirty="0">
                <a:solidFill>
                  <a:srgbClr val="0F172A"/>
                </a:solidFill>
              </a:rPr>
              <a:t>Health Army</a:t>
            </a:r>
            <a:pPr algn="l" indent="0" marL="0">
              <a:lnSpc>
                <a:spcPts val="4200"/>
              </a:lnSpc>
              <a:buNone/>
            </a:pPr>
            <a:r>
              <a:rPr lang="en-US" sz="3512" b="1" spc="-2" kern="0" dirty="0">
                <a:solidFill>
                  <a:srgbClr val="0F172A"/>
                </a:solidFill>
              </a:rPr>
              <a:t>
</a:t>
            </a:r>
            <a:pPr algn="l" indent="0" marL="0">
              <a:lnSpc>
                <a:spcPts val="4200"/>
              </a:lnSpc>
              <a:buNone/>
            </a:pPr>
            <a:r>
              <a:rPr lang="en-US" sz="3512" b="1" spc="-2" kern="0" dirty="0">
                <a:solidFill>
                  <a:srgbClr val="0F172A"/>
                </a:solidFill>
              </a:rPr>
              <a:t>Volunteers</a:t>
            </a:r>
            <a:endParaRPr lang="en-US" sz="3512" dirty="0"/>
          </a:p>
        </p:txBody>
      </p:sp>
      <p:sp>
        <p:nvSpPr>
          <p:cNvPr id="9" name="Text 5"/>
          <p:cNvSpPr/>
          <p:nvPr/>
        </p:nvSpPr>
        <p:spPr>
          <a:xfrm>
            <a:off x="571500" y="3481462"/>
            <a:ext cx="491490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99" b="1" dirty="0">
                <a:solidFill>
                  <a:srgbClr val="334155"/>
                </a:solidFill>
              </a:rPr>
              <a:t>Transformando Tecnologia em Impacto Social</a:t>
            </a:r>
            <a:endParaRPr lang="en-US" sz="1499" dirty="0"/>
          </a:p>
        </p:txBody>
      </p:sp>
      <p:sp>
        <p:nvSpPr>
          <p:cNvPr id="10" name="Text 6"/>
          <p:cNvSpPr/>
          <p:nvPr/>
        </p:nvSpPr>
        <p:spPr>
          <a:xfrm>
            <a:off x="571500" y="3815432"/>
            <a:ext cx="4914900" cy="435769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64748B"/>
                </a:solidFill>
              </a:rPr>
              <a:t>Desenvolvido por Shirley Brito</a:t>
            </a:r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64748B"/>
                </a:solidFill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64748B"/>
                </a:solidFill>
              </a:rPr>
              <a:t> Dezembro 2025</a:t>
            </a:r>
            <a:endParaRPr lang="en-US" sz="885" dirty="0"/>
          </a:p>
        </p:txBody>
      </p:sp>
      <p:sp>
        <p:nvSpPr>
          <p:cNvPr id="11" name="Shape 7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85750"/>
            <a:ext cx="3657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28625"/>
            <a:ext cx="1000125" cy="7000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1500" y="1448395"/>
            <a:ext cx="5143500" cy="932259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0F172A"/>
                </a:solidFill>
              </a:rPr>
              <a:t>Arquitetura &amp; Segurança</a:t>
            </a:r>
            <a:endParaRPr lang="en-US" sz="2436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37867"/>
            <a:ext cx="214313" cy="1714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71500" y="3195042"/>
            <a:ext cx="24860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Frontend</a:t>
            </a:r>
            <a:endParaRPr lang="en-US" sz="1193" dirty="0"/>
          </a:p>
        </p:txBody>
      </p:sp>
      <p:sp>
        <p:nvSpPr>
          <p:cNvPr id="7" name="Text 2"/>
          <p:cNvSpPr/>
          <p:nvPr/>
        </p:nvSpPr>
        <p:spPr>
          <a:xfrm>
            <a:off x="571500" y="3486150"/>
            <a:ext cx="24860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4155"/>
                </a:solidFill>
              </a:rPr>
              <a:t>React 19 + Tailwind CSS para interface rápida e responsiva.</a:t>
            </a:r>
            <a:endParaRPr lang="en-US" sz="942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8975" y="2937867"/>
            <a:ext cx="171450" cy="1714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228975" y="3195042"/>
            <a:ext cx="24860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Backend</a:t>
            </a:r>
            <a:endParaRPr lang="en-US" sz="1193" dirty="0"/>
          </a:p>
        </p:txBody>
      </p:sp>
      <p:sp>
        <p:nvSpPr>
          <p:cNvPr id="10" name="Text 4"/>
          <p:cNvSpPr/>
          <p:nvPr/>
        </p:nvSpPr>
        <p:spPr>
          <a:xfrm>
            <a:off x="3228975" y="3486150"/>
            <a:ext cx="24860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4155"/>
                </a:solidFill>
              </a:rPr>
              <a:t>tRPC para comunicação segura e tipagem consistente.</a:t>
            </a:r>
            <a:endParaRPr lang="en-US" sz="942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71950"/>
            <a:ext cx="150019" cy="17145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71500" y="4429125"/>
            <a:ext cx="24860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Banco de Dados</a:t>
            </a:r>
            <a:endParaRPr lang="en-US" sz="1193" dirty="0"/>
          </a:p>
        </p:txBody>
      </p:sp>
      <p:sp>
        <p:nvSpPr>
          <p:cNvPr id="13" name="Text 6"/>
          <p:cNvSpPr/>
          <p:nvPr/>
        </p:nvSpPr>
        <p:spPr>
          <a:xfrm>
            <a:off x="571500" y="4720233"/>
            <a:ext cx="24860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4155"/>
                </a:solidFill>
              </a:rPr>
              <a:t>PostgreSQL no Supabase com RLS.</a:t>
            </a:r>
            <a:endParaRPr lang="en-US" sz="942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8975" y="4171950"/>
            <a:ext cx="214313" cy="17145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3228975" y="4429125"/>
            <a:ext cx="24860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F172A"/>
                </a:solidFill>
              </a:rPr>
              <a:t>Autenticação</a:t>
            </a:r>
            <a:endParaRPr lang="en-US" sz="1193" dirty="0"/>
          </a:p>
        </p:txBody>
      </p:sp>
      <p:sp>
        <p:nvSpPr>
          <p:cNvPr id="16" name="Text 8"/>
          <p:cNvSpPr/>
          <p:nvPr/>
        </p:nvSpPr>
        <p:spPr>
          <a:xfrm>
            <a:off x="3228975" y="4720233"/>
            <a:ext cx="24860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4155"/>
                </a:solidFill>
              </a:rPr>
              <a:t>Gestão de usuários empresarial via Supabase Auth.</a:t>
            </a:r>
            <a:endParaRPr lang="en-US" sz="942" dirty="0"/>
          </a:p>
        </p:txBody>
      </p:sp>
      <p:sp>
        <p:nvSpPr>
          <p:cNvPr id="17" name="Shape 9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69702"/>
            <a:ext cx="5051050" cy="46613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0F172A"/>
                </a:solidFill>
              </a:rPr>
              <a:t>Gestão &amp; Disponibilidade</a:t>
            </a:r>
            <a:endParaRPr lang="en-US" sz="2436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0" y="285750"/>
            <a:ext cx="1143000" cy="8001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1576983"/>
            <a:ext cx="24003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F172A"/>
                </a:solidFill>
              </a:rPr>
              <a:t>Gestão de Voluntários</a:t>
            </a:r>
            <a:endParaRPr lang="en-US" sz="1090" dirty="0"/>
          </a:p>
        </p:txBody>
      </p:sp>
      <p:sp>
        <p:nvSpPr>
          <p:cNvPr id="6" name="Text 2"/>
          <p:cNvSpPr/>
          <p:nvPr/>
        </p:nvSpPr>
        <p:spPr>
          <a:xfrm>
            <a:off x="571500" y="1898452"/>
            <a:ext cx="24003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334155"/>
                </a:solidFill>
              </a:rPr>
              <a:t>Cadastro simplificado</a:t>
            </a:r>
            <a:endParaRPr lang="en-US" sz="888" dirty="0"/>
          </a:p>
        </p:txBody>
      </p:sp>
      <p:sp>
        <p:nvSpPr>
          <p:cNvPr id="7" name="Text 3"/>
          <p:cNvSpPr/>
          <p:nvPr/>
        </p:nvSpPr>
        <p:spPr>
          <a:xfrm>
            <a:off x="571500" y="2125600"/>
            <a:ext cx="24003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334155"/>
                </a:solidFill>
              </a:rPr>
              <a:t>Edição detalhada de dados</a:t>
            </a:r>
            <a:endParaRPr lang="en-US" sz="888" dirty="0"/>
          </a:p>
        </p:txBody>
      </p:sp>
      <p:sp>
        <p:nvSpPr>
          <p:cNvPr id="8" name="Text 4"/>
          <p:cNvSpPr/>
          <p:nvPr/>
        </p:nvSpPr>
        <p:spPr>
          <a:xfrm>
            <a:off x="571500" y="2352749"/>
            <a:ext cx="24003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334155"/>
                </a:solidFill>
              </a:rPr>
              <a:t>Painel administrativo central</a:t>
            </a:r>
            <a:endParaRPr lang="en-US" sz="888" dirty="0"/>
          </a:p>
        </p:txBody>
      </p:sp>
      <p:sp>
        <p:nvSpPr>
          <p:cNvPr id="9" name="Text 5"/>
          <p:cNvSpPr/>
          <p:nvPr/>
        </p:nvSpPr>
        <p:spPr>
          <a:xfrm>
            <a:off x="3371850" y="1576983"/>
            <a:ext cx="24003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59669"/>
                </a:solidFill>
              </a:rPr>
              <a:t>Agenda Flexível</a:t>
            </a:r>
            <a:endParaRPr lang="en-US" sz="1090" dirty="0"/>
          </a:p>
        </p:txBody>
      </p:sp>
      <p:sp>
        <p:nvSpPr>
          <p:cNvPr id="10" name="Text 6"/>
          <p:cNvSpPr/>
          <p:nvPr/>
        </p:nvSpPr>
        <p:spPr>
          <a:xfrm>
            <a:off x="3371850" y="1898452"/>
            <a:ext cx="24003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334155"/>
                </a:solidFill>
              </a:rPr>
              <a:t>Múltiplos dias da semana</a:t>
            </a:r>
            <a:endParaRPr lang="en-US" sz="888" dirty="0"/>
          </a:p>
        </p:txBody>
      </p:sp>
      <p:sp>
        <p:nvSpPr>
          <p:cNvPr id="11" name="Text 7"/>
          <p:cNvSpPr/>
          <p:nvPr/>
        </p:nvSpPr>
        <p:spPr>
          <a:xfrm>
            <a:off x="3371850" y="2125600"/>
            <a:ext cx="24003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334155"/>
                </a:solidFill>
              </a:rPr>
              <a:t>Janelas de tempo ajustáveis</a:t>
            </a:r>
            <a:endParaRPr lang="en-US" sz="888" dirty="0"/>
          </a:p>
        </p:txBody>
      </p:sp>
      <p:sp>
        <p:nvSpPr>
          <p:cNvPr id="12" name="Text 8"/>
          <p:cNvSpPr/>
          <p:nvPr/>
        </p:nvSpPr>
        <p:spPr>
          <a:xfrm>
            <a:off x="3371850" y="2352749"/>
            <a:ext cx="24003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334155"/>
                </a:solidFill>
              </a:rPr>
              <a:t>Ajuste em tempo real</a:t>
            </a:r>
            <a:endParaRPr lang="en-US" sz="888" dirty="0"/>
          </a:p>
        </p:txBody>
      </p:sp>
      <p:sp>
        <p:nvSpPr>
          <p:cNvPr id="13" name="Text 9"/>
          <p:cNvSpPr/>
          <p:nvPr/>
        </p:nvSpPr>
        <p:spPr>
          <a:xfrm>
            <a:off x="6172200" y="1576983"/>
            <a:ext cx="24003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F172A"/>
                </a:solidFill>
              </a:rPr>
              <a:t>Qualidade &amp; Dados</a:t>
            </a:r>
            <a:endParaRPr lang="en-US" sz="1090" dirty="0"/>
          </a:p>
        </p:txBody>
      </p:sp>
      <p:sp>
        <p:nvSpPr>
          <p:cNvPr id="14" name="Text 10"/>
          <p:cNvSpPr/>
          <p:nvPr/>
        </p:nvSpPr>
        <p:spPr>
          <a:xfrm>
            <a:off x="6172200" y="1898452"/>
            <a:ext cx="24003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334155"/>
                </a:solidFill>
              </a:rPr>
              <a:t>Validação em duas camadas</a:t>
            </a:r>
            <a:endParaRPr lang="en-US" sz="888" dirty="0"/>
          </a:p>
        </p:txBody>
      </p:sp>
      <p:sp>
        <p:nvSpPr>
          <p:cNvPr id="15" name="Text 11"/>
          <p:cNvSpPr/>
          <p:nvPr/>
        </p:nvSpPr>
        <p:spPr>
          <a:xfrm>
            <a:off x="6172200" y="2125600"/>
            <a:ext cx="24003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334155"/>
                </a:solidFill>
              </a:rPr>
              <a:t>Integridade de informações</a:t>
            </a:r>
            <a:endParaRPr lang="en-US" sz="888" dirty="0"/>
          </a:p>
        </p:txBody>
      </p:sp>
      <p:sp>
        <p:nvSpPr>
          <p:cNvPr id="16" name="Text 12"/>
          <p:cNvSpPr/>
          <p:nvPr/>
        </p:nvSpPr>
        <p:spPr>
          <a:xfrm>
            <a:off x="6172200" y="2352749"/>
            <a:ext cx="24003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334155"/>
                </a:solidFill>
              </a:rPr>
              <a:t>Redução de carga cognitiva</a:t>
            </a:r>
            <a:endParaRPr lang="en-US" sz="888" dirty="0"/>
          </a:p>
        </p:txBody>
      </p:sp>
      <p:sp>
        <p:nvSpPr>
          <p:cNvPr id="17" name="Shape 13"/>
          <p:cNvSpPr/>
          <p:nvPr/>
        </p:nvSpPr>
        <p:spPr>
          <a:xfrm>
            <a:off x="0" y="2857500"/>
            <a:ext cx="9144000" cy="2286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Shape 14"/>
          <p:cNvSpPr/>
          <p:nvPr/>
        </p:nvSpPr>
        <p:spPr>
          <a:xfrm>
            <a:off x="0" y="2857500"/>
            <a:ext cx="9144000" cy="7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00"/>
            <a:ext cx="9144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62570"/>
            <a:ext cx="5284952" cy="466130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spc="-1" kern="0" dirty="0">
                <a:solidFill>
                  <a:srgbClr val="0F172A"/>
                </a:solidFill>
              </a:rPr>
              <a:t>Estabilidade &amp; Otimização</a:t>
            </a:r>
            <a:endParaRPr lang="en-US" sz="2436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375" y="428625"/>
            <a:ext cx="1000125" cy="7000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1605558"/>
            <a:ext cx="247648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Infraestrutura</a:t>
            </a:r>
            <a:endParaRPr lang="en-US" sz="987" dirty="0"/>
          </a:p>
        </p:txBody>
      </p:sp>
      <p:sp>
        <p:nvSpPr>
          <p:cNvPr id="6" name="Text 2"/>
          <p:cNvSpPr/>
          <p:nvPr/>
        </p:nvSpPr>
        <p:spPr>
          <a:xfrm>
            <a:off x="571500" y="1885950"/>
            <a:ext cx="247648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Migração para Sonner: notificações consistentes, leves e de alta performance visual para o usuário final.</a:t>
            </a:r>
            <a:endParaRPr lang="en-US" sz="834" dirty="0"/>
          </a:p>
        </p:txBody>
      </p:sp>
      <p:sp>
        <p:nvSpPr>
          <p:cNvPr id="7" name="Text 3"/>
          <p:cNvSpPr/>
          <p:nvPr/>
        </p:nvSpPr>
        <p:spPr>
          <a:xfrm>
            <a:off x="3333731" y="1605558"/>
            <a:ext cx="247650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Estabilidade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3333731" y="1885950"/>
            <a:ext cx="247650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Correção de bugs críticos de renderização e lógica de navegação, garantindo uma experiência fluida e sem erros.</a:t>
            </a:r>
            <a:endParaRPr lang="en-US" sz="834" dirty="0"/>
          </a:p>
        </p:txBody>
      </p:sp>
      <p:sp>
        <p:nvSpPr>
          <p:cNvPr id="9" name="Text 5"/>
          <p:cNvSpPr/>
          <p:nvPr/>
        </p:nvSpPr>
        <p:spPr>
          <a:xfrm>
            <a:off x="6095991" y="1605558"/>
            <a:ext cx="247648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F172A"/>
                </a:solidFill>
              </a:rPr>
              <a:t>Prontidão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6095991" y="1885950"/>
            <a:ext cx="247648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155"/>
                </a:solidFill>
              </a:rPr>
              <a:t>Processo de build automatizado e otimizado para deploy imediato na plataforma Vercel com segurança.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0" y="2857500"/>
            <a:ext cx="9144000" cy="2286000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7500"/>
            <a:ext cx="9144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743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29000" cy="5177433"/>
          </a:xfrm>
          <a:prstGeom prst="rect">
            <a:avLst/>
          </a:prstGeom>
          <a:solidFill>
            <a:srgbClr val="0F172A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625" y="428625"/>
            <a:ext cx="1000125" cy="70008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3857625" y="1305520"/>
            <a:ext cx="4714875" cy="691493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26" b="1" spc="-1" kern="0" dirty="0">
                <a:solidFill>
                  <a:srgbClr val="0F172A"/>
                </a:solidFill>
              </a:rPr>
              <a:t>Roadmap Estratégico:</a:t>
            </a:r>
            <a:pPr algn="l" indent="0" marL="0">
              <a:lnSpc>
                <a:spcPts val="2700"/>
              </a:lnSpc>
              <a:buNone/>
            </a:pPr>
            <a:r>
              <a:rPr lang="en-US" sz="2226" b="1" spc="-1" kern="0" dirty="0">
                <a:solidFill>
                  <a:srgbClr val="0F172A"/>
                </a:solidFill>
              </a:rPr>
              <a:t>
</a:t>
            </a:r>
            <a:pPr algn="l" indent="0" marL="0">
              <a:lnSpc>
                <a:spcPts val="2700"/>
              </a:lnSpc>
              <a:buNone/>
            </a:pPr>
            <a:r>
              <a:rPr lang="en-US" sz="2226" b="1" spc="-1" kern="0" dirty="0">
                <a:solidFill>
                  <a:srgbClr val="0F172A"/>
                </a:solidFill>
              </a:rPr>
              <a:t>O Futuro do Health Army</a:t>
            </a:r>
            <a:endParaRPr lang="en-US" sz="2226" dirty="0"/>
          </a:p>
        </p:txBody>
      </p:sp>
      <p:sp>
        <p:nvSpPr>
          <p:cNvPr id="7" name="Shape 2"/>
          <p:cNvSpPr/>
          <p:nvPr/>
        </p:nvSpPr>
        <p:spPr>
          <a:xfrm>
            <a:off x="3857625" y="2225613"/>
            <a:ext cx="285750" cy="28575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3"/>
          <p:cNvSpPr/>
          <p:nvPr/>
        </p:nvSpPr>
        <p:spPr>
          <a:xfrm>
            <a:off x="3857625" y="2225613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00</a:t>
            </a:r>
            <a:endParaRPr lang="en-US" sz="885" dirty="0"/>
          </a:p>
        </p:txBody>
      </p:sp>
      <p:sp>
        <p:nvSpPr>
          <p:cNvPr id="9" name="Text 4"/>
          <p:cNvSpPr/>
          <p:nvPr/>
        </p:nvSpPr>
        <p:spPr>
          <a:xfrm>
            <a:off x="4286250" y="2225613"/>
            <a:ext cx="42862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59669"/>
                </a:solidFill>
              </a:rPr>
              <a:t>Integração Google Agenda</a:t>
            </a:r>
            <a:endParaRPr lang="en-US" sz="1090" dirty="0"/>
          </a:p>
        </p:txBody>
      </p:sp>
      <p:sp>
        <p:nvSpPr>
          <p:cNvPr id="10" name="Text 5"/>
          <p:cNvSpPr/>
          <p:nvPr/>
        </p:nvSpPr>
        <p:spPr>
          <a:xfrm>
            <a:off x="4286250" y="2482788"/>
            <a:ext cx="4286250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475569"/>
                </a:solidFill>
              </a:rPr>
              <a:t>Prioridade Máxima: Sincronização bidirecional de horários e automação de eventos.</a:t>
            </a:r>
            <a:endParaRPr lang="en-US" sz="888" dirty="0"/>
          </a:p>
        </p:txBody>
      </p:sp>
      <p:sp>
        <p:nvSpPr>
          <p:cNvPr id="11" name="Shape 6"/>
          <p:cNvSpPr/>
          <p:nvPr/>
        </p:nvSpPr>
        <p:spPr>
          <a:xfrm>
            <a:off x="3857625" y="2865648"/>
            <a:ext cx="285750" cy="2857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7"/>
          <p:cNvSpPr/>
          <p:nvPr/>
        </p:nvSpPr>
        <p:spPr>
          <a:xfrm>
            <a:off x="3857625" y="2865648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01</a:t>
            </a:r>
            <a:endParaRPr lang="en-US" sz="885" dirty="0"/>
          </a:p>
        </p:txBody>
      </p:sp>
      <p:sp>
        <p:nvSpPr>
          <p:cNvPr id="13" name="Text 8"/>
          <p:cNvSpPr/>
          <p:nvPr/>
        </p:nvSpPr>
        <p:spPr>
          <a:xfrm>
            <a:off x="4286250" y="2865648"/>
            <a:ext cx="417889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F172A"/>
                </a:solidFill>
              </a:rPr>
              <a:t>Métricas de Impacto</a:t>
            </a:r>
            <a:endParaRPr lang="en-US" sz="1090" dirty="0"/>
          </a:p>
        </p:txBody>
      </p:sp>
      <p:sp>
        <p:nvSpPr>
          <p:cNvPr id="14" name="Text 9"/>
          <p:cNvSpPr/>
          <p:nvPr/>
        </p:nvSpPr>
        <p:spPr>
          <a:xfrm>
            <a:off x="4286250" y="3122823"/>
            <a:ext cx="4178898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475569"/>
                </a:solidFill>
              </a:rPr>
              <a:t>Dashboard para visualização de horas doadas e atendimentos realizados.</a:t>
            </a:r>
            <a:endParaRPr lang="en-US" sz="888" dirty="0"/>
          </a:p>
        </p:txBody>
      </p:sp>
      <p:sp>
        <p:nvSpPr>
          <p:cNvPr id="15" name="Shape 10"/>
          <p:cNvSpPr/>
          <p:nvPr/>
        </p:nvSpPr>
        <p:spPr>
          <a:xfrm>
            <a:off x="3857625" y="3335685"/>
            <a:ext cx="285750" cy="28575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1"/>
          <p:cNvSpPr/>
          <p:nvPr/>
        </p:nvSpPr>
        <p:spPr>
          <a:xfrm>
            <a:off x="3857625" y="3335685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02</a:t>
            </a:r>
            <a:endParaRPr lang="en-US" sz="885" dirty="0"/>
          </a:p>
        </p:txBody>
      </p:sp>
      <p:sp>
        <p:nvSpPr>
          <p:cNvPr id="17" name="Text 12"/>
          <p:cNvSpPr/>
          <p:nvPr/>
        </p:nvSpPr>
        <p:spPr>
          <a:xfrm>
            <a:off x="4286250" y="3335685"/>
            <a:ext cx="391753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F172A"/>
                </a:solidFill>
              </a:rPr>
              <a:t>Matching Inteligente</a:t>
            </a:r>
            <a:endParaRPr lang="en-US" sz="1090" dirty="0"/>
          </a:p>
        </p:txBody>
      </p:sp>
      <p:sp>
        <p:nvSpPr>
          <p:cNvPr id="18" name="Text 13"/>
          <p:cNvSpPr/>
          <p:nvPr/>
        </p:nvSpPr>
        <p:spPr>
          <a:xfrm>
            <a:off x="4286250" y="3592860"/>
            <a:ext cx="3917538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8" dirty="0">
                <a:solidFill>
                  <a:srgbClr val="475569"/>
                </a:solidFill>
              </a:rPr>
              <a:t>Algoritmo para conectar voluntários e pacientes de forma otimizada.</a:t>
            </a:r>
            <a:endParaRPr lang="en-US" sz="888" dirty="0"/>
          </a:p>
        </p:txBody>
      </p:sp>
      <p:sp>
        <p:nvSpPr>
          <p:cNvPr id="19" name="Text 14"/>
          <p:cNvSpPr/>
          <p:nvPr/>
        </p:nvSpPr>
        <p:spPr>
          <a:xfrm>
            <a:off x="3857625" y="4898827"/>
            <a:ext cx="4714875" cy="278606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2" kern="0" dirty="0">
                <a:solidFill>
                  <a:srgbClr val="94A3B8"/>
                </a:solidFill>
              </a:rPr>
              <a:t>Desenvolvido por Shirley Brito • 2025-2026</a:t>
            </a:r>
            <a:endParaRPr lang="en-US" sz="68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2025-12-27T15:06:11Z</dcterms:created>
  <dcterms:modified xsi:type="dcterms:W3CDTF">2025-12-27T15:06:11Z</dcterms:modified>
</cp:coreProperties>
</file>